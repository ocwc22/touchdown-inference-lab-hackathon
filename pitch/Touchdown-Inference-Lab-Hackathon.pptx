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touchdown-labs.com/blog/automated-cuda-revenue-per-gpu.html" TargetMode="External"/><Relationship Id="rId4" Type="http://schemas.openxmlformats.org/officeDocument/2006/relationships/hyperlink" Target="https://touchdown-labs.com/blog/ai-factories-repeated-inference-memory-hierarchy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ouchdown-labs.com/blog/kv-cache-memory-hierarchy-inference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demo-video/touchdown-inference-lab-lifecycle-demo.mp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92608" cy="29260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256032"/>
            <a:ext cx="3657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Touchdown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999999"/>
                </a:solidFill>
                <a:latin typeface="Arial"/>
              </a:rPr>
              <a:t>SLIDE 01 / TEAM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14984"/>
            <a:ext cx="111858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A0A0A"/>
                </a:solidFill>
                <a:latin typeface="Arial"/>
              </a:rPr>
              <a:t>Touchdown Labs. </a:t>
            </a:r>
            <a:r>
              <a:rPr sz="3000" b="0" i="0">
                <a:solidFill>
                  <a:srgbClr val="999999"/>
                </a:solidFill>
                <a:latin typeface="Arial"/>
              </a:rPr>
              <a:t>Twenty months at the kernel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12264"/>
            <a:ext cx="7863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A0A0A"/>
                </a:solidFill>
                <a:latin typeface="Arial"/>
              </a:rPr>
              <a:t>William Chen — Founder &amp; CEO, Touchdown Labs. </a:t>
            </a:r>
            <a:r>
              <a:rPr sz="1150" b="0" i="0">
                <a:solidFill>
                  <a:srgbClr val="777777"/>
                </a:solidFill>
                <a:latin typeface="Arial"/>
              </a:rPr>
              <a:t>Twenty months studying </a:t>
            </a:r>
            <a:r>
              <a:rPr sz="1150" b="1" i="0">
                <a:solidFill>
                  <a:srgbClr val="0A0A0A"/>
                </a:solidFill>
                <a:latin typeface="Arial"/>
              </a:rPr>
              <a:t>CUDA kernel generation and AMD GPU kernels</a:t>
            </a:r>
            <a:r>
              <a:rPr sz="1150" b="0" i="0">
                <a:solidFill>
                  <a:srgbClr val="777777"/>
                </a:solidFill>
                <a:latin typeface="Arial"/>
              </a:rPr>
              <a:t> — through chip-design study, AMD developer hackathons, and </a:t>
            </a:r>
            <a:r>
              <a:rPr sz="1150" b="1" i="0">
                <a:solidFill>
                  <a:srgbClr val="0A0A0A"/>
                </a:solidFill>
                <a:latin typeface="Arial"/>
              </a:rPr>
              <a:t>joint IC-design research with Taiwan's NYCU</a:t>
            </a:r>
            <a:r>
              <a:rPr sz="1150" b="0" i="0">
                <a:solidFill>
                  <a:srgbClr val="777777"/>
                </a:solidFill>
                <a:latin typeface="Arial"/>
              </a:rPr>
              <a:t> — building the inference-optimization company that measures </a:t>
            </a:r>
            <a:r>
              <a:rPr sz="1150" b="1" i="0">
                <a:solidFill>
                  <a:srgbClr val="0A0A0A"/>
                </a:solidFill>
                <a:latin typeface="Arial"/>
              </a:rPr>
              <a:t>cost per successful AI task</a:t>
            </a:r>
            <a:r>
              <a:rPr sz="1150" b="0" i="0">
                <a:solidFill>
                  <a:srgbClr val="777777"/>
                </a:solidFill>
                <a:latin typeface="Arial"/>
              </a:rPr>
              <a:t> from the kernel up to the token bill.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63824"/>
            <a:ext cx="38100" cy="7772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182112"/>
            <a:ext cx="76992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A0A0A"/>
                </a:solidFill>
                <a:latin typeface="Arial"/>
              </a:rPr>
              <a:t>Team-to-problem alignment: </a:t>
            </a:r>
            <a:r>
              <a:rPr sz="1100" b="0" i="0">
                <a:solidFill>
                  <a:srgbClr val="0A0A0A"/>
                </a:solidFill>
                <a:latin typeface="Arial"/>
              </a:rPr>
              <a:t>our day job runs from CUDA kernels to token bills. This lab teaches students the same discipline — on the coding agent they already use — with the same evidence standard we hold our own kernel work 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2112264"/>
            <a:ext cx="3047695" cy="178308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illiam-ai-expo-taiwan.jpg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8695944" y="2167128"/>
            <a:ext cx="2937967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95944" y="3630168"/>
            <a:ext cx="2937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40">
                <a:solidFill>
                  <a:srgbClr val="999999"/>
                </a:solidFill>
                <a:latin typeface="Arial"/>
              </a:rPr>
              <a:t>AI EXPO Taiwan 2026 · Global Pavilion booth · exhibitor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23943"/>
            <a:ext cx="3606698" cy="196596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270247"/>
            <a:ext cx="3314090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PROOF OF WORK · WON THE TRACK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A0A0A"/>
                </a:solidFill>
                <a:latin typeface="Arial"/>
              </a:rPr>
              <a:t>Won Mercor's OpenEnv Hackathon track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(San Francisco, March 2026) with an RL environment for </a:t>
            </a:r>
            <a:r>
              <a:rPr sz="1100" b="1" i="0">
                <a:solidFill>
                  <a:srgbClr val="0A0A0A"/>
                </a:solidFill>
                <a:latin typeface="Arial"/>
              </a:rPr>
              <a:t>automated CUDA kernel generation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— the first public event built around RL environments and post-training. Writeup: </a:t>
            </a:r>
            <a:r>
              <a:rPr sz="1100" b="0" i="0" u="sng">
                <a:solidFill>
                  <a:srgbClr val="0A0A0A"/>
                </a:solidFill>
                <a:latin typeface="Arial"/>
                <a:hlinkClick r:id="rId3"/>
              </a:rPr>
              <a:t>Automated CUDA Is Almost Here</a:t>
            </a:r>
            <a:r>
              <a:rPr sz="1100" b="0" i="0">
                <a:solidFill>
                  <a:srgbClr val="0A0A0A"/>
                </a:solidFill>
                <a:latin typeface="Arial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2498" y="4123943"/>
            <a:ext cx="3606698" cy="196596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8802" y="4270247"/>
            <a:ext cx="3314090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HARDWARE FIELD WORK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A0A0A"/>
                </a:solidFill>
                <a:latin typeface="Arial"/>
              </a:rPr>
              <a:t>Exhibited at AI EXPO Taiwan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(Global Pavilion booth, Taipei, June 2026) and flew to </a:t>
            </a:r>
            <a:r>
              <a:rPr sz="1100" b="1" i="0">
                <a:solidFill>
                  <a:srgbClr val="0A0A0A"/>
                </a:solidFill>
                <a:latin typeface="Arial"/>
              </a:rPr>
              <a:t>Computex 2026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— writeup: </a:t>
            </a:r>
            <a:r>
              <a:rPr sz="1100" b="0" i="0" u="sng">
                <a:solidFill>
                  <a:srgbClr val="0A0A0A"/>
                </a:solidFill>
                <a:latin typeface="Arial"/>
                <a:hlinkClick r:id="rId4"/>
              </a:rPr>
              <a:t>Seeing the Physical Layer of the AI Factory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— attended </a:t>
            </a:r>
            <a:r>
              <a:rPr sz="1100" b="1" i="0">
                <a:solidFill>
                  <a:srgbClr val="0A0A0A"/>
                </a:solidFill>
                <a:latin typeface="Arial"/>
              </a:rPr>
              <a:t>GTC 2026</a:t>
            </a:r>
            <a:r>
              <a:rPr sz="1100" b="0" i="0">
                <a:solidFill>
                  <a:srgbClr val="0A0A0A"/>
                </a:solidFill>
                <a:latin typeface="Arial"/>
              </a:rPr>
              <a:t>. Joint IC-design research with </a:t>
            </a:r>
            <a:r>
              <a:rPr sz="1100" b="1" i="0">
                <a:solidFill>
                  <a:srgbClr val="0A0A0A"/>
                </a:solidFill>
                <a:latin typeface="Arial"/>
              </a:rPr>
              <a:t>NYCU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and a growing research-partner network, plus MI355X kernel experiments and AMD developer hackathons.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076" y="4123943"/>
            <a:ext cx="3606698" cy="196596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8380" y="4270247"/>
            <a:ext cx="3314090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THIS BUILD, ALREADY VERIFIED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A0A0A"/>
                </a:solidFill>
                <a:latin typeface="Arial"/>
              </a:rPr>
              <a:t>10 / 10 local tests passing</a:t>
            </a:r>
            <a:r>
              <a:rPr sz="1100" b="0" i="0">
                <a:solidFill>
                  <a:srgbClr val="0A0A0A"/>
                </a:solidFill>
                <a:latin typeface="Arial"/>
              </a:rPr>
              <a:t>, frozen acceptance contract, and a live Butterbase data write (receipt row e5ff8fc6…9454). Fixture and live states are always labeled.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85855" cy="1587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99999"/>
                </a:solidFill>
                <a:latin typeface="Arial"/>
              </a:rPr>
              <a:t>Touchdown Labs · AI for Education Hackathon · Stanford ·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99999"/>
                </a:solidFill>
                <a:latin typeface="Arial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92608" cy="29260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256032"/>
            <a:ext cx="3657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Touchdown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999999"/>
                </a:solidFill>
                <a:latin typeface="Arial"/>
              </a:rPr>
              <a:t>SLIDE 02 / 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14984"/>
            <a:ext cx="111858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0A0A0A"/>
                </a:solidFill>
                <a:latin typeface="Arial"/>
              </a:rPr>
              <a:t>Run one coding task. </a:t>
            </a:r>
            <a:r>
              <a:rPr sz="2400" b="0" i="0">
                <a:solidFill>
                  <a:srgbClr val="999999"/>
                </a:solidFill>
                <a:latin typeface="Arial"/>
              </a:rPr>
              <a:t>See every token the agent remembered, recomputed, and wasted — then fix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66544"/>
            <a:ext cx="5501487" cy="141732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212848"/>
            <a:ext cx="520887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THE PAIN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A0A0A"/>
                </a:solidFill>
                <a:latin typeface="Arial"/>
              </a:rPr>
              <a:t>Coding agents hide the bill inside the loop.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One small retry-bug fix loaded </a:t>
            </a:r>
            <a:r>
              <a:rPr sz="1100" b="1" i="0">
                <a:solidFill>
                  <a:srgbClr val="0A0A0A"/>
                </a:solidFill>
                <a:latin typeface="Arial"/>
              </a:rPr>
              <a:t>40,176 characters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of harness context — </a:t>
            </a:r>
            <a:r>
              <a:rPr sz="1100" b="1" i="0">
                <a:solidFill>
                  <a:srgbClr val="0A0A0A"/>
                </a:solidFill>
                <a:latin typeface="Arial"/>
              </a:rPr>
              <a:t>17,420 of them repeated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(43%) across 14 tool calls. Students see a patch; nobody teaches them what the system paid, or how to make it cheaper without breaking the tests.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2066544"/>
            <a:ext cx="5501487" cy="141732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3591" y="2212848"/>
            <a:ext cx="520887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THE BUILT SOLUTION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1" i="0">
                <a:solidFill>
                  <a:srgbClr val="0A0A0A"/>
                </a:solidFill>
                <a:latin typeface="Arial"/>
              </a:rPr>
              <a:t>A browser lab on a frozen, reproducible coding task.</a:t>
            </a:r>
            <a:r>
              <a:rPr sz="1100" b="0" i="0">
                <a:solidFill>
                  <a:srgbClr val="0A0A0A"/>
                </a:solidFill>
                <a:latin typeface="Arial"/>
              </a:rPr>
              <a:t> A three-minute, nine-stage lesson: classify context lifetime, apply one optimization policy at a time, watch the engine decision flip from local MLX-LM to vLLM on Nebius at 100 users, follow text → tokens → prefill → KV cache → HBM, and export a signed optimization receipt. EverOS memory makes the next lesson adapt; Butterbase persists the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66744"/>
            <a:ext cx="3606698" cy="141732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3813048"/>
            <a:ext cx="331409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CONTEXT AFTER ONE POLICY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0A0A0A"/>
                </a:solidFill>
                <a:latin typeface="Arial"/>
              </a:rPr>
              <a:t>−42%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777777"/>
                </a:solidFill>
                <a:latin typeface="Arial"/>
              </a:rPr>
              <a:t>40,176 → 23,210 characters on the same task, same acceptance test still passing.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1" i="0" spc="60">
                <a:solidFill>
                  <a:srgbClr val="999999"/>
                </a:solidFill>
                <a:latin typeface="Arial"/>
              </a:rPr>
              <a:t>DETERMINISTIC FIXTURE · LABELED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3666744"/>
            <a:ext cx="3606698" cy="141732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8802" y="3813048"/>
            <a:ext cx="331409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REPEATED CONTEXT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0A0A0A"/>
                </a:solidFill>
                <a:latin typeface="Arial"/>
              </a:rPr>
              <a:t>−70%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777777"/>
                </a:solidFill>
                <a:latin typeface="Arial"/>
              </a:rPr>
              <a:t>17,420 → 5,180 repeated characters once stable prefix + tool-output projection are applied.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1" i="0" spc="60">
                <a:solidFill>
                  <a:srgbClr val="999999"/>
                </a:solidFill>
                <a:latin typeface="Arial"/>
              </a:rPr>
              <a:t>DETERMINISTIC FIXTURE · LABELED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3666744"/>
            <a:ext cx="3606698" cy="141732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8380" y="3813048"/>
            <a:ext cx="331409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999999"/>
                </a:solidFill>
                <a:latin typeface="Arial"/>
              </a:rPr>
              <a:t>MEMORY VS FULL REPLAY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0A0A0A"/>
                </a:solidFill>
                <a:latin typeface="Arial"/>
              </a:rPr>
              <a:t>−92%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777777"/>
                </a:solidFill>
                <a:latin typeface="Arial"/>
              </a:rPr>
              <a:t>~4,210 → ~323 estimated tokens by retrieving an EverOS Case instead of replaying the full trajectory.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1" i="0" spc="60">
                <a:solidFill>
                  <a:srgbClr val="999999"/>
                </a:solidFill>
                <a:latin typeface="Arial"/>
              </a:rPr>
              <a:t>LOCAL ESTIMATE · NOT A PROVIDER MEASUREMENT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21224"/>
            <a:ext cx="11185855" cy="1051560"/>
          </a:xfrm>
          <a:prstGeom prst="rect">
            <a:avLst/>
          </a:prstGeom>
          <a:solidFill>
            <a:srgbClr val="F7F7F7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312664"/>
            <a:ext cx="1085667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00">
                <a:solidFill>
                  <a:srgbClr val="999999"/>
                </a:solidFill>
                <a:latin typeface="Arial"/>
              </a:rPr>
              <a:t>LEARN HOW TO DO THIS — THE LAB SHIPS ITS OWN CURRICULUM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•  Accounting first: </a:t>
            </a:r>
            <a:r>
              <a:rPr sz="950" b="0" i="0">
                <a:solidFill>
                  <a:srgbClr val="0A0A0A"/>
                </a:solidFill>
                <a:latin typeface="Courier New"/>
              </a:rPr>
              <a:t>total input = input_tokens + cache_creation_input_tokens + cache_read_input_tokens</a:t>
            </a:r>
            <a:r>
              <a:rPr sz="950" b="0" i="0">
                <a:solidFill>
                  <a:srgbClr val="777777"/>
                </a:solidFill>
                <a:latin typeface="Arial"/>
              </a:rPr>
              <a:t> (Claude Code) — the agent-optimizer skill makes every claim a before/after receipt.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•  Take it home: </a:t>
            </a:r>
            <a:r>
              <a:rPr sz="950" b="0" i="0">
                <a:solidFill>
                  <a:srgbClr val="777777"/>
                </a:solidFill>
                <a:latin typeface="Arial"/>
              </a:rPr>
              <a:t>run the same KV-cache loop on your own laptop — Set Up a Local OpenClaw or Hermes KV-Cache Learning Loop with Mac MLX (mirrored in this repo).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 i="0">
                <a:solidFill>
                  <a:srgbClr val="0A0A0A"/>
                </a:solidFill>
                <a:latin typeface="Arial"/>
              </a:rPr>
              <a:t>•  Go deeper: </a:t>
            </a:r>
            <a:r>
              <a:rPr sz="950" b="0" i="0" u="sng">
                <a:solidFill>
                  <a:srgbClr val="0A0A0A"/>
                </a:solidFill>
                <a:latin typeface="Arial"/>
                <a:hlinkClick r:id="rId2"/>
              </a:rPr>
              <a:t>KV Cache Is Becoming the Memory Hierarchy of Inference</a:t>
            </a:r>
            <a:r>
              <a:rPr sz="950" b="0" i="0">
                <a:solidFill>
                  <a:srgbClr val="777777"/>
                </a:solidFill>
                <a:latin typeface="Arial"/>
              </a:rPr>
              <a:t> — why the same waste shows up at GB200 scale.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85855" cy="1587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99999"/>
                </a:solidFill>
                <a:latin typeface="Arial"/>
              </a:rPr>
              <a:t>Touchdown Labs · AI for Education Hackathon · Stanford ·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99999"/>
                </a:solidFill>
                <a:latin typeface="Arial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92608" cy="29260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" y="256032"/>
            <a:ext cx="3657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0A0A"/>
                </a:solidFill>
                <a:latin typeface="Arial"/>
              </a:rPr>
              <a:t>Touchdown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999999"/>
                </a:solidFill>
                <a:latin typeface="Arial"/>
              </a:rPr>
              <a:t>SLIDE 03 / VIDEO DEMO · WORKING OPERATIONAL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14984"/>
            <a:ext cx="111858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A0A0A"/>
                </a:solidFill>
                <a:latin typeface="Arial"/>
              </a:rPr>
              <a:t>1:48. </a:t>
            </a:r>
            <a:r>
              <a:rPr sz="3000" b="0" i="0">
                <a:solidFill>
                  <a:srgbClr val="999999"/>
                </a:solidFill>
                <a:latin typeface="Arial"/>
              </a:rPr>
              <a:t>The complete lifecycle, end to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0823"/>
            <a:ext cx="7863840" cy="28803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77640" y="2798063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2798063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0A0A"/>
                </a:solidFill>
                <a:latin typeface="Arial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95342"/>
            <a:ext cx="6766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hlinkClick r:id="rId2"/>
              </a:rPr>
              <a:t>Open the 1:48 lifecycle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352543"/>
            <a:ext cx="6766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99999"/>
                </a:solidFill>
                <a:latin typeface="Courier New"/>
                <a:hlinkClick r:id="rId2"/>
              </a:rPr>
              <a:t>demo-video/touchdown-inference-lab-lifecycle-demo.mp4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38343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40">
                <a:solidFill>
                  <a:srgbClr val="999999"/>
                </a:solidFill>
                <a:latin typeface="Arial"/>
              </a:rPr>
              <a:t>1:48 RUNTIME · UNDER THE 2:00 CAP      1280 × 720 · H.264 · 30 FPS      BROWSER-ONLY WALKTHROUGH OF THE LIVE LOCAL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20823"/>
            <a:ext cx="304769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0A0A"/>
                </a:solidFill>
                <a:latin typeface="Arial"/>
              </a:rPr>
              <a:t>Shown in order: </a:t>
            </a:r>
            <a:r>
              <a:rPr sz="1000" b="0" i="0">
                <a:solidFill>
                  <a:srgbClr val="777777"/>
                </a:solidFill>
                <a:latin typeface="Arial"/>
              </a:rPr>
              <a:t>the principle and the loop bar, all nine live lesson stages with every interaction exercised — context-lifetime controls toggled, the engine decision flipped to one hundred users, all three sponsor operations run, recalled memory applied, the result verified, the receipt persisted — then the challenge ladder, the résumé-vs-receipt comparison, the incentive-alignment thesis, the thirteen-phase continuous lab down to the GPU/HBM package and facility lanes, and the learner-to-contributor journey closing on the portfolio receipt.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000" b="1" i="0">
                <a:solidFill>
                  <a:srgbClr val="0A0A0A"/>
                </a:solidFill>
                <a:latin typeface="Arial"/>
              </a:rPr>
              <a:t>Evidence boundary: </a:t>
            </a:r>
            <a:r>
              <a:rPr sz="1000" b="0" i="0">
                <a:solidFill>
                  <a:srgbClr val="777777"/>
                </a:solidFill>
                <a:latin typeface="Arial"/>
              </a:rPr>
              <a:t>the walkthrough uses the demo's explicitly labeled deterministic fixture states. It does not present fixture data as a live production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495543"/>
            <a:ext cx="18288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5495543"/>
            <a:ext cx="157276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77777"/>
                </a:solidFill>
                <a:latin typeface="Arial"/>
              </a:rPr>
              <a:t>npm test · 10/10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59736" y="5495543"/>
            <a:ext cx="2286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5495543"/>
            <a:ext cx="202996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77777"/>
                </a:solidFill>
                <a:latin typeface="Arial"/>
              </a:rPr>
              <a:t>npm run verify ·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3752" y="5495543"/>
            <a:ext cx="2286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5495543"/>
            <a:ext cx="202996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77777"/>
                </a:solidFill>
                <a:latin typeface="Arial"/>
              </a:rPr>
              <a:t>Butterbase live write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7768" y="5495543"/>
            <a:ext cx="29260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4" y="5495543"/>
            <a:ext cx="2670048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77777"/>
                </a:solidFill>
                <a:latin typeface="Arial"/>
              </a:rPr>
              <a:t>Receipt schema + secret scan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5855" cy="15875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99999"/>
                </a:solidFill>
                <a:latin typeface="Arial"/>
              </a:rPr>
              <a:t>Touchdown Labs · AI for Education Hackathon · Stanford ·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9975" y="65471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99999"/>
                </a:solidFill>
                <a:latin typeface="Arial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